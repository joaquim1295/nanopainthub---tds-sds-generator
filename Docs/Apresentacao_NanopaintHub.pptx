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2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182CE"/>
                </a:solidFill>
              </a:rPr>
              <a:t>PROJETO FINAL DE CURSO · ENGENHARIA DE SOFTWARE</a:t>
            </a:r>
          </a:p>
          <a:p>
            <a:pPr>
              <a:spcBef>
                <a:spcPts val="1400"/>
              </a:spcBef>
            </a:pPr>
            <a:r>
              <a:rPr sz="3000" b="1">
                <a:solidFill>
                  <a:srgbClr val="FFFFFF"/>
                </a:solidFill>
              </a:rPr>
              <a:t>NanopaintHub: Plataforma Integrada de Gestão de Dados de Produto e Geração Multi-Motor de TDS e SDS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DFE8F5"/>
                </a:solidFill>
              </a:rPr>
              <a:t>Arquitetura em Camadas, Motores Híbridos de PDF, Auditoria Multi-Agente e Conformidade REACH/CLP em .NET 9 e WinUI 3</a:t>
            </a:r>
          </a:p>
          <a:p>
            <a:pPr>
              <a:spcBef>
                <a:spcPts val="4000"/>
              </a:spcBef>
            </a:pPr>
            <a:r>
              <a:rPr sz="1300">
                <a:solidFill>
                  <a:srgbClr val="3182CE"/>
                </a:solidFill>
              </a:rPr>
              <a:t>Autor: Licenciatura / Mestrado em Engenharia de Software  |  Portugal,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1. Enquadramento e Motivação Industrial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19528D"/>
                </a:solidFill>
              </a:rPr>
              <a:t>Contexto da Indústria de Tintas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• Revestimentos Nanoestruturados e Sensores Impressos (piezoresistivos, flexíveis).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• Necessidade de caraterização rigorosa por cada lote de fabrico.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• Emissão obrigatória de dois documentos chave:
  • TDS (Technical Data Sheets) para engenheiros;
  • SDS (Safety Data Sheets) para cumprimento REACH/CLP.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DC2626"/>
                </a:solidFill>
              </a:rPr>
              <a:t>Problemas das Soluções Tradicionais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✖ Processos Manuais Fragmentados: folhas de cálculo e Word isolados originando erros de transcrição.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✖ Divergência Gráfica: ausência de motor centralizado gerando layouts inconsistentes.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✖ Overhead de Memória em Chromium: consumo &gt;350MB RAM por documento e &gt;3.5s de tempo de geração.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✖ Risco de Não-Conformidade Legal nas 16 secções obrigatórias das SDS.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2. Objetivos Principais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01. Arquitetura Limpa em C#/.NET 9: </a:t>
            </a:r>
            <a:r>
              <a:rPr sz="1300">
                <a:solidFill>
                  <a:srgbClr val="1E293B"/>
                </a:solidFill>
              </a:rPr>
              <a:t>Desacoplamento total entre Domínio, Aplicação, Infraestrutura e WinUI 3 com o padrão Local-First.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02. Motor Roteador Multi-Engine em PDF: </a:t>
            </a:r>
            <a:r>
              <a:rPr sz="1300">
                <a:solidFill>
                  <a:srgbClr val="1E293B"/>
                </a:solidFill>
              </a:rPr>
              <a:t>Implementação do Strategy Pattern permitindo alternar entre QuestPDF, iText7 pdfHTML e PuppeteerSharp em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03. Módulo de Sensores e Gráficos SVG: </a:t>
            </a:r>
            <a:r>
              <a:rPr sz="1300">
                <a:solidFill>
                  <a:srgbClr val="1E293B"/>
                </a:solidFill>
              </a:rPr>
              <a:t>Importação autônoma de ficheiros CSV/TSV/XLS e geração nativa de curvas SVG de histerese e linearidade.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04. Conformidade Legal REACH &amp; CLP: </a:t>
            </a:r>
            <a:r>
              <a:rPr sz="1300">
                <a:solidFill>
                  <a:srgbClr val="1E293B"/>
                </a:solidFill>
              </a:rPr>
              <a:t>Gestão de 16 secções SDS, validação de componentes de fornecedores e diagnósticos SQLite / EF 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05. Protocolos Rígidos de Qualidade: </a:t>
            </a:r>
            <a:r>
              <a:rPr sz="1300">
                <a:solidFill>
                  <a:srgbClr val="1E293B"/>
                </a:solidFill>
              </a:rPr>
              <a:t>Aplicação da Regra dos 7 Passos, Conselho de Auditoria Multi-Agente e Protocolo de Limpeza de Código Morto.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3. Estado da Arte: Análise Comparativa de Motores PDF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143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Característica / Motor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QuestPDF (Nativo C#)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iText7 pdfHTML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PuppeteerSharp (Chromium)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Paradigma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DSL C# Declarativa em Memória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Conversão HTML5/CSS3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Headless Browser Virtual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Tempo de Renderização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28 ms - 45 ms (Ultra Rápido)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145 ms - 220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2400 ms - 3850 ms (Elevado)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Consumo de RAM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18.4 MB (Mínimo)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62.1 MB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</a:rPr>
                        <a:t>340.5 MB (Processo Chromium)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4. Painel Principal (Dashboard) de Telemetria WinUI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5720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19528D"/>
                </a:solidFill>
              </a:rPr>
              <a:t>Monitorização em Tempo Real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✔ Indicadores Globais do Catálogo de Produtos.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✔ Total de Fichas Técnicas e Fichas de Segurança emitidas.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✔ Alerta de expiração de SDS (&gt; 6 meses) sob diretivas REACH.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E293B"/>
                </a:solidFill>
              </a:rPr>
              <a:t>✔ Histórico recente dos últimos documentos compilados.</a:t>
            </a:r>
          </a:p>
        </p:txBody>
      </p:sp>
      <p:pic>
        <p:nvPicPr>
          <p:cNvPr id="4" name="Picture 3" descr="fig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973775" cy="3424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5. Arquitetura Global da Solução (Clean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Camada Domain (NanopaintHub.Domain): </a:t>
            </a:r>
            <a:r>
              <a:rPr sz="1200">
                <a:solidFill>
                  <a:srgbClr val="1E293B"/>
                </a:solidFill>
              </a:rPr>
              <a:t>
Entidades puras (Product, DocumentTemplate, TestBatch), Enums, Valor-Objetos.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3182CE"/>
                </a:solidFill>
              </a:rPr>
              <a:t>Camada Application (NanopaintHub.Application): </a:t>
            </a:r>
            <a:r>
              <a:rPr sz="1200">
                <a:solidFill>
                  <a:srgbClr val="1E293B"/>
                </a:solidFill>
              </a:rPr>
              <a:t>
Casos de Uso (GenerateTdsQuery, SaveDocumentRelease), Interfaces, Parsers.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2C3E50"/>
                </a:solidFill>
              </a:rPr>
              <a:t>Camada Infrastructure LocalData (NanopaintHub.Infrastructure.LocalData): </a:t>
            </a:r>
            <a:r>
              <a:rPr sz="1200">
                <a:solidFill>
                  <a:srgbClr val="1E293B"/>
                </a:solidFill>
              </a:rPr>
              <a:t>
EF Core 9, SQLite Local, Repositórios concretos e Unit of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9528D"/>
                </a:solidFill>
              </a:rPr>
              <a:t>Camada Infrastructure Documents (NanopaintHub.Infrastructure.Documents): </a:t>
            </a:r>
            <a:r>
              <a:rPr sz="1200">
                <a:solidFill>
                  <a:srgbClr val="1E293B"/>
                </a:solidFill>
              </a:rPr>
              <a:t>
Motores QuestPDF, AdvancedDocumentRenderer, Puppeteer, SVG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2C3E50"/>
                </a:solidFill>
              </a:rPr>
              <a:t>Camada Clients WinUI 3 (NanopaintHub.WinUIClient): </a:t>
            </a:r>
            <a:r>
              <a:rPr sz="1200">
                <a:solidFill>
                  <a:srgbClr val="1E293B"/>
                </a:solidFill>
              </a:rPr>
              <a:t>
Interface gráfica Windows App SDK, ViewModels MVVM, Host TinyMCE/Quill.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6. Módulo Multi-Engine PDF Router (Strategy Pattern)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/>
            <a:r>
              <a:rPr sz="1800" b="1">
                <a:solidFill>
                  <a:srgbClr val="19528D"/>
                </a:solidFill>
              </a:rPr>
              <a:t>Padrão de Design Strategy para Isolamento do Motor PDF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Interface Unificada `IDocumentGeneratorService`: desacopla totalmente a UI da biblioteca de PDF.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Serviço `DocumentGeneratorRouter`: analisa a configuração (`PdfGenerationSettings`) e seleciona dinamicamente a estratégia.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Comutação transparente em Runtime entre QuestPDF (para alta velocidade) e motores HTML (para WYSIWYG).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Padrão `PdfGenerationProgressNotifier`: emite notificações de progresso percentual (5% a 100%) para a UI WinUI 3 sem bloquear a thread principal.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7. Módulo Gerador de PDF e Pré-Visualização ao Vivo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389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700" b="1">
                <a:solidFill>
                  <a:srgbClr val="19528D"/>
                </a:solidFill>
              </a:rPr>
              <a:t>Geração e Fusão de Lotes</a:t>
            </a:r>
          </a:p>
          <a:p>
            <a:pPr>
              <a:spcBef>
                <a:spcPts val="1200"/>
              </a:spcBef>
            </a:pPr>
            <a:r>
              <a:rPr sz="1300"/>
              <a:t>✔ Seleção de Documento (TDS/SDS) e Produto (InkPR02NP®).</a:t>
            </a:r>
          </a:p>
          <a:p>
            <a:pPr>
              <a:spcBef>
                <a:spcPts val="1200"/>
              </a:spcBef>
            </a:pPr>
            <a:r>
              <a:rPr sz="1300"/>
              <a:t>✔ Fusão dinâmica com especificações de lote (`LT-2025-001`).</a:t>
            </a:r>
          </a:p>
          <a:p>
            <a:pPr>
              <a:spcBef>
                <a:spcPts val="1200"/>
              </a:spcBef>
            </a:pPr>
            <a:r>
              <a:rPr sz="1300"/>
              <a:t>✔ Pré-visualização viva com motor QuestPDF.</a:t>
            </a:r>
          </a:p>
          <a:p>
            <a:pPr>
              <a:spcBef>
                <a:spcPts val="1200"/>
              </a:spcBef>
            </a:pPr>
            <a:r>
              <a:rPr sz="1300"/>
              <a:t>✔ Exportação direta para PDF de alta fidelidade.</a:t>
            </a:r>
          </a:p>
        </p:txBody>
      </p:sp>
      <p:pic>
        <p:nvPicPr>
          <p:cNvPr id="4" name="Picture 3" descr="fig6_gerador_pdf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56655" cy="3511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8. Caracterização de Produtos e Sensores Nanoestruturados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389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700" b="1">
                <a:solidFill>
                  <a:srgbClr val="19528D"/>
                </a:solidFill>
              </a:rPr>
              <a:t>Edição de Produto no WinUI 3</a:t>
            </a:r>
          </a:p>
          <a:p>
            <a:pPr>
              <a:spcBef>
                <a:spcPts val="1200"/>
              </a:spcBef>
            </a:pPr>
            <a:r>
              <a:rPr sz="1300"/>
              <a:t>✦ Campos organizados em `SettingsCard` e Expansores Nativos.</a:t>
            </a:r>
          </a:p>
          <a:p>
            <a:pPr>
              <a:spcBef>
                <a:spcPts val="1200"/>
              </a:spcBef>
            </a:pPr>
            <a:r>
              <a:rPr sz="1300"/>
              <a:t>✦ Upload de Imagem do Produto para exibição no cabeçalho.</a:t>
            </a:r>
          </a:p>
          <a:p>
            <a:pPr>
              <a:spcBef>
                <a:spcPts val="1200"/>
              </a:spcBef>
            </a:pPr>
            <a:r>
              <a:rPr sz="1300"/>
              <a:t>✦ Gestão de Características de Tinta (Ink Features) e Propriedades Físico-Químicas.</a:t>
            </a:r>
          </a:p>
          <a:p>
            <a:pPr>
              <a:spcBef>
                <a:spcPts val="1200"/>
              </a:spcBef>
            </a:pPr>
            <a:r>
              <a:rPr sz="1300"/>
              <a:t>✦ Sincronização imediata com o painel de pré-visualização.</a:t>
            </a:r>
          </a:p>
        </p:txBody>
      </p:sp>
      <p:pic>
        <p:nvPicPr>
          <p:cNvPr id="4" name="Picture 3" descr="fig7_editar_prod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56655" cy="3613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9. Editor de Templates &amp; TinyMCE Block Builder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/>
            <a:r>
              <a:rPr sz="1800" b="1">
                <a:solidFill>
                  <a:srgbClr val="19528D"/>
                </a:solidFill>
              </a:rPr>
              <a:t>Arquitetura de Edição Visual de Blocos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Hospedagem Chromium via `ChromiumTinyMceEditorService` para ajuste fino de conteúdo antes da emissão do PDF.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Arrastar e Largar (Drag &amp; Drop) nativo para reordenação de secções e tabelas.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Injeção dinâmica do tema CSS (`cssTheme`) garantindo fidelidade gráfica idêntica ao PDF.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E293B"/>
                </a:solidFill>
              </a:rPr>
              <a:t>✦ Tradução Bidirecional: o `TemplateHtmlParser.ParseToSchema` converte o HTML modificado de volta para a AST `TemplateBuilderSchema`, atualizando simultaneamente o QuestPDF.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10. Definições, Base de Dados ECHA e Diagnóstico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389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700" b="1">
                <a:solidFill>
                  <a:srgbClr val="19528D"/>
                </a:solidFill>
              </a:rPr>
              <a:t>Configuração e Diagnóstico</a:t>
            </a:r>
          </a:p>
          <a:p>
            <a:pPr>
              <a:spcBef>
                <a:spcPts val="1200"/>
              </a:spcBef>
            </a:pPr>
            <a:r>
              <a:rPr sz="1300"/>
              <a:t>✔ Seleção independente de Motores PDF para TDS e SDS.</a:t>
            </a:r>
          </a:p>
          <a:p>
            <a:pPr>
              <a:spcBef>
                <a:spcPts val="1200"/>
              </a:spcBef>
            </a:pPr>
            <a:r>
              <a:rPr sz="1300"/>
              <a:t>✔ Importador de Base de Dados ECHA (4180 Substâncias REACH/CLP).</a:t>
            </a:r>
          </a:p>
          <a:p>
            <a:pPr>
              <a:spcBef>
                <a:spcPts val="1200"/>
              </a:spcBef>
            </a:pPr>
            <a:r>
              <a:rPr sz="1300"/>
              <a:t>✔ Inspeção e diagnósticos da base de dados SQLite.</a:t>
            </a:r>
          </a:p>
          <a:p>
            <a:pPr>
              <a:spcBef>
                <a:spcPts val="1200"/>
              </a:spcBef>
            </a:pPr>
            <a:r>
              <a:rPr sz="1300"/>
              <a:t>✔ Exportação e Importação de backups em formato `.db` e `.json`.</a:t>
            </a:r>
          </a:p>
        </p:txBody>
      </p:sp>
      <p:pic>
        <p:nvPicPr>
          <p:cNvPr id="4" name="Picture 3" descr="fig8_definicoes_ec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56655" cy="36495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11. Avaliação de Desempenho e Resultados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001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Motor de PDF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Tempo TDS (2 pág.)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Tempo SDS (4 pág.)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Consumo Pico RAM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Taxa de Sucesso</a:t>
                      </a:r>
                    </a:p>
                  </a:txBody>
                  <a:tcPr>
                    <a:solidFill>
                      <a:srgbClr val="19528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/>
                        <a:t>QuestPDF (Nativo C#)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ms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45 ms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18.4 MB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100 % (0 erros)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/>
                        <a:t>iText7 pdfHTML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62.1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100 % (0 erros)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/>
                        <a:t>PuppeteerSharp (Chromium)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2400 ms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3850 ms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340.5 MB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100 % (0 erros)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500" b="1">
                <a:solidFill>
                  <a:srgbClr val="10B981"/>
                </a:solidFill>
              </a:rPr>
              <a:t>Validação de Testes Unitários de Integração (`NanopaintHub.UnitTests.dll`):
</a:t>
            </a:r>
            <a:r>
              <a:rPr sz="1400" b="1">
                <a:solidFill>
                  <a:srgbClr val="1E293B"/>
                </a:solidFill>
              </a:rPr>
              <a:t>Resultado do Comando `dotnet test`:  PASSED!  Total: 32 Testes  |  Aprovados: 32  |  Falhas: 0  |  Duração: 3s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12. Reflexão Crítica e Limitações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700" b="1">
                <a:solidFill>
                  <a:srgbClr val="10B981"/>
                </a:solidFill>
              </a:rPr>
              <a:t>Principais Conquistas</a:t>
            </a:r>
          </a:p>
          <a:p>
            <a:pPr>
              <a:spcBef>
                <a:spcPts val="1200"/>
              </a:spcBef>
            </a:pPr>
            <a:r>
              <a:rPr sz="1300"/>
              <a:t>✔ Redução do tempo de geração de PDFs de 3.5s para 28ms com a transição para QuestPDF.</a:t>
            </a:r>
          </a:p>
          <a:p>
            <a:pPr>
              <a:spcBef>
                <a:spcPts val="1200"/>
              </a:spcBef>
            </a:pPr>
            <a:r>
              <a:rPr sz="1300"/>
              <a:t>✔ Eliminação total do risco de erros manuais na transcrição de especificações de sensores.</a:t>
            </a:r>
          </a:p>
          <a:p>
            <a:pPr>
              <a:spcBef>
                <a:spcPts val="1200"/>
              </a:spcBef>
            </a:pPr>
            <a:r>
              <a:rPr sz="1300"/>
              <a:t>✔ Arquitetura altamente sustentável baseada em Clean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700" b="1">
                <a:solidFill>
                  <a:srgbClr val="DC2626"/>
                </a:solidFill>
              </a:rPr>
              <a:t>Limitações Identificadas</a:t>
            </a:r>
          </a:p>
          <a:p>
            <a:pPr>
              <a:spcBef>
                <a:spcPts val="1200"/>
              </a:spcBef>
            </a:pPr>
            <a:r>
              <a:rPr sz="1300"/>
              <a:t>⚠️ Bloqueios de concorrência no SQLite em pastas de rede partilhadas por múltiplos PCs em simultâneo.</a:t>
            </a:r>
          </a:p>
          <a:p>
            <a:pPr>
              <a:spcBef>
                <a:spcPts val="1200"/>
              </a:spcBef>
            </a:pPr>
            <a:r>
              <a:rPr sz="1300"/>
              <a:t>⚠️ Necessidade de conversão de PDFs de fundo (Letterhead) para formatos de imagem.</a:t>
            </a:r>
          </a:p>
          <a:p>
            <a:pPr>
              <a:spcBef>
                <a:spcPts val="1200"/>
              </a:spcBef>
            </a:pPr>
            <a:r>
              <a:rPr sz="1300"/>
              <a:t>⚠️ Ausência atual de sincronização em nuvem automática na versão Local-First.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95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/>
            <a:r>
              <a:rPr sz="1000" b="1">
                <a:solidFill>
                  <a:srgbClr val="3182CE"/>
                </a:solidFill>
              </a:rPr>
              <a:t>NANOPAINTHUB - APRESENTAÇÃO FINAL</a:t>
            </a:r>
          </a:p>
          <a:p>
            <a:r>
              <a:rPr sz="2200" b="1">
                <a:solidFill>
                  <a:srgbClr val="FFFFFF"/>
                </a:solidFill>
              </a:rPr>
              <a:t>13. Roadmap e Trabalhos Futuros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/>
            <a:r>
              <a:rPr sz="1600" b="1">
                <a:solidFill>
                  <a:srgbClr val="19528D"/>
                </a:solidFill>
              </a:rPr>
              <a:t>Fase 1: Evolução para API REST Centralizada
</a:t>
            </a:r>
            <a:r>
              <a:rPr sz="1300">
                <a:solidFill>
                  <a:srgbClr val="1E293B"/>
                </a:solidFill>
              </a:rPr>
              <a:t>Migração da camada de dados para um serviço Web ASP.NET Core com PostgreSQL/SQL Server mantendo a App WinUI 3 como cliente desktop.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728655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/>
            <a:r>
              <a:rPr sz="1600" b="1">
                <a:solidFill>
                  <a:srgbClr val="19528D"/>
                </a:solidFill>
              </a:rPr>
              <a:t>Fase 2: Integração com Sistemas LIMS e ERP
</a:t>
            </a:r>
            <a:r>
              <a:rPr sz="1300">
                <a:solidFill>
                  <a:srgbClr val="1E293B"/>
                </a:solidFill>
              </a:rPr>
              <a:t>Conexão bidirecional com software de laboratório e gestão para importação automática de lotes de fabrico.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/>
            <a:r>
              <a:rPr sz="1600" b="1">
                <a:solidFill>
                  <a:srgbClr val="19528D"/>
                </a:solidFill>
              </a:rPr>
              <a:t>Fase 3: Assinatura Digital de PDF (eIDAS)
</a:t>
            </a:r>
            <a:r>
              <a:rPr sz="1300">
                <a:solidFill>
                  <a:srgbClr val="1E293B"/>
                </a:solidFill>
              </a:rPr>
              <a:t>Implementação de assinaturas com certificados X.509 para garantia de inalterabilidade jurídica das SDS.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2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182CE"/>
                </a:solidFill>
              </a:rPr>
              <a:t>CONCLUSÃO &amp; QUESTÕES</a:t>
            </a:r>
          </a:p>
          <a:p>
            <a:pPr>
              <a:spcBef>
                <a:spcPts val="2000"/>
              </a:spcBef>
            </a:pPr>
            <a:r>
              <a:rPr sz="2200" b="1">
                <a:solidFill>
                  <a:srgbClr val="FFFFFF"/>
                </a:solidFill>
              </a:rPr>
              <a:t>O NanopaintHub estabelece uma solução de elevada performance, robustez e conformidade jurídica para a gestão e emissão de documentação técnica industrial.</a:t>
            </a:r>
          </a:p>
          <a:p>
            <a:pPr>
              <a:spcBef>
                <a:spcPts val="3000"/>
              </a:spcBef>
            </a:pPr>
            <a:r>
              <a:rPr sz="1800" i="1">
                <a:solidFill>
                  <a:srgbClr val="DFE8F5"/>
                </a:solidFill>
              </a:rPr>
              <a:t>Muito Obrigado pela Atenção!
Fico à disposição para a sessão de Perguntas e Respostas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